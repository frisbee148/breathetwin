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PROJECT OVERVIEW // INTER-COLLEGE SUBMISSION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BreathTwin: Multimodal Asthma Flare-Up Digital Twin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Forecasting Acute Asthma Exacerbations 24 to 48 Hours Ahead in High-Pollution Indian Metros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EXECUTIVE SUMMARY &amp; SYSTEM SCOPE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Core Innovation: </a:t>
            </a:r>
            <a:r>
              <a:rPr b="0">
                <a:solidFill>
                  <a:srgbClr val="8CF0AF"/>
                </a:solidFill>
              </a:rPr>
              <a:t>Constructs a personalized physiological Digital Twin fusing longitudinal Electronic Health Records, 20-channel wearable biometric telemetry, and real-time CPCB air quality indices.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Biophysical ODE Simulator: </a:t>
            </a:r>
            <a:r>
              <a:rPr b="0">
                <a:solidFill>
                  <a:srgbClr val="8CF0AF"/>
                </a:solidFill>
              </a:rPr>
              <a:t>Integrates latent bronchial inflammation trajectory I(t) using an Euler-Maruyama stochastic differential equation.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3-Stage Ensemble Architecture: </a:t>
            </a:r>
            <a:r>
              <a:rPr b="0">
                <a:solidFill>
                  <a:srgbClr val="8CF0AF"/>
                </a:solidFill>
              </a:rPr>
              <a:t>Stacked Dilated Temporal Convolutional Network (TCN) + XGBoost Multi-Target Tree Suite + PyTorch MLP Meta-Learner.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Early Warning Horizon: </a:t>
            </a:r>
            <a:r>
              <a:rPr b="0">
                <a:solidFill>
                  <a:srgbClr val="8CF0AF"/>
                </a:solidFill>
              </a:rPr>
              <a:t>Predicts acute exacerbation risk 24 to 48 hours in advance, achieving ROC-AUC of 0.940 (24h) and 0.943 (48h) on held-out test cohort.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Interactive Counterfactual Sandbox: </a:t>
            </a:r>
            <a:r>
              <a:rPr b="0">
                <a:solidFill>
                  <a:srgbClr val="8CF0AF"/>
                </a:solidFill>
              </a:rPr>
              <a:t>Allows pulmonologists to simulate N95 respirators, indoor staying, HEPA purifiers, and ICS controller step-ups in &lt; 65 ms before clinical advice.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Dual Clinical Portals: </a:t>
            </a:r>
            <a:r>
              <a:rPr b="0">
                <a:solidFill>
                  <a:srgbClr val="8CF0AF"/>
                </a:solidFill>
              </a:rPr>
              <a:t>Specialized WebGL/Three.js 3D viewport for treating doctors and accessible plain-language mobile companion for asthma patients.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788152" cy="246888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TEAM COMPOSITION &amp; SUBMISSION IDENTIFIERS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Submission Identifier: </a:t>
            </a:r>
            <a:r>
              <a:rPr b="0">
                <a:solidFill>
                  <a:srgbClr val="8CF0AF"/>
                </a:solidFill>
              </a:rPr>
              <a:t>ABAY_LNMIIT/NSUT  (Inter-College Collaborative Engineering Team)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Team Lead &amp; Backend Architect: </a:t>
            </a:r>
            <a:r>
              <a:rPr b="0">
                <a:solidFill>
                  <a:srgbClr val="8CF0AF"/>
                </a:solidFill>
              </a:rPr>
              <a:t>Aarush Bhattacharjee / Frisbee148 (LNMIIT, Jaipur) — System Architecture, Full-Stack, FastAPI, Three.js 3D Lung, Mechanistic ODE, Copilot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Machine Learning Engineer: </a:t>
            </a:r>
            <a:r>
              <a:rPr b="0">
                <a:solidFill>
                  <a:srgbClr val="8CF0AF"/>
                </a:solidFill>
              </a:rPr>
              <a:t>Rakshit Gupta / Hobbiskar21 (NSUT, New Delhi) — ML Responsibilities, Stage-1A TCN, Stage-1B XGBoost, Stage-2 Meta-Learner, Conformal Calibration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Licensing &amp; Integrity: </a:t>
            </a:r>
            <a:r>
              <a:rPr b="0">
                <a:solidFill>
                  <a:srgbClr val="8CF0AF"/>
                </a:solidFill>
              </a:rPr>
              <a:t>MIT Open-Source License • Zero Real Patient PHI/PII (100% Synthetic Cohort)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Repository Access: </a:t>
            </a:r>
            <a:r>
              <a:rPr b="0">
                <a:solidFill>
                  <a:srgbClr val="8CF0AF"/>
                </a:solidFill>
              </a:rPr>
              <a:t>https://github.com/Frisbee148/DigitalTwin (Publicly Accessible Artifacts)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4114800"/>
            <a:ext cx="5788152" cy="2011680"/>
          </a:xfrm>
          <a:prstGeom prst="rect">
            <a:avLst/>
          </a:prstGeom>
          <a:solidFill>
            <a:srgbClr val="05140B"/>
          </a:solidFill>
          <a:ln w="15240">
            <a:solidFill>
              <a:srgbClr val="4CF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HELD-OUT VALIDATION METRICS &amp; OPERATIONAL TARGETS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24-Hour Exacerbation ROC-AUC: 0.9399 (Held-out 100-patient test split)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48-Hour Severe Flare-Up ROC-AUC: 0.9428 (42.4 ± 4.1h warning lead time)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4-Grade Severity Weighted F1: 0.8435 (Grades 0-3 triage classification)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Counterfactual Simulation Latency: &lt; 65 ms (Interactive ODE re-scoring)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False Alarm Frequency: 0.7 alarms / week (Clinical Target: ≤ 1.0 / wk)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RATIONALE // THE SUB-CLINICAL INFLAMMATORY BLINDSPOT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India's Disproportionate Asthma Crisis &amp; The 24-36h Warning Gap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Why Outpatient Asthma Care Must Transition from Reactive Hospital Visits to Proactive Digital Twin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5555"/>
                </a:solidFill>
                <a:latin typeface="Consolas"/>
              </a:defRPr>
            </a:pPr>
            <a:r>
              <a:t>// THE URBAN CLINICAL CHALLENGE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Disproportionate Mortality Burden: </a:t>
            </a:r>
            <a:r>
              <a:rPr b="0">
                <a:solidFill>
                  <a:srgbClr val="8CF0AF"/>
                </a:solidFill>
              </a:rPr>
              <a:t>India accounts for over 42% of global asthma mortality despite having approximately 13% of the world's asthma population (Lancet Global Health).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The 24-to-36-Hour Blindspot: </a:t>
            </a:r>
            <a:r>
              <a:rPr b="0">
                <a:solidFill>
                  <a:srgbClr val="8CF0AF"/>
                </a:solidFill>
              </a:rPr>
              <a:t>When particulate matter (PM2.5) surges during winter temperature inversions, bronchial mucosal swelling and smooth-muscle bronchoconstriction develop over 24-36 hours before patients perceive chest tightness.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Siloed Healthcare Signals: </a:t>
            </a:r>
            <a:r>
              <a:rPr b="0">
                <a:solidFill>
                  <a:srgbClr val="8CF0AF"/>
                </a:solidFill>
              </a:rPr>
              <a:t>Pulmonary function records (FEV1), wearable telemetry (nocturnal SpO2 dips, HRV drops), and municipal AQI exist in isolated silos with zero cross-correlation.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Costly Reactive Emergency Care: </a:t>
            </a:r>
            <a:r>
              <a:rPr b="0">
                <a:solidFill>
                  <a:srgbClr val="8CF0AF"/>
                </a:solidFill>
              </a:rPr>
              <a:t>Patients seek help only when forced expiratory volume collapses, driving preventable ICU admissions, systemic oral corticosteroid bursts, and high economic burden.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69671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HEALTHCARE USE CASES (DOCTOR &amp; PATIENT PERSONAS)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Outpatient Cohort Prioritization: </a:t>
            </a:r>
            <a:r>
              <a:rPr b="0">
                <a:solidFill>
                  <a:srgbClr val="8CF0AF"/>
                </a:solidFill>
              </a:rPr>
              <a:t>Treating pulmonologists open a population-level triage roster automatically sorted by prospective 48-hour exacerbation risk, prioritizing unstable patients first.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Mechanistic Physiological Inspection: </a:t>
            </a:r>
            <a:r>
              <a:rPr b="0">
                <a:solidFill>
                  <a:srgbClr val="8CF0AF"/>
                </a:solidFill>
              </a:rPr>
              <a:t>Clinicians inspect continuous airway inflammation state I(t), 3D GLSL thermal bronchial constriction, and personalized baseline vital deviations.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Counterfactual Intervention Testing: </a:t>
            </a:r>
            <a:r>
              <a:rPr b="0">
                <a:solidFill>
                  <a:srgbClr val="8CF0AF"/>
                </a:solidFill>
              </a:rPr>
              <a:t>Doctors test preventive actions (N95 mask, stay indoors, air purifier, ICS step-up) on the patient's twin, evaluating predicted risk delta before clinical consultation.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Continual Outlier Adaptation: </a:t>
            </a:r>
            <a:r>
              <a:rPr b="0">
                <a:solidFill>
                  <a:srgbClr val="8CF0AF"/>
                </a:solidFill>
              </a:rPr>
              <a:t>Free-text notes (e.g., concurrent typhoid or dengue fever) are parsed by Stage-3 LLM and integrated into the twin using Elastic Weight Consolidation (EWC).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Accessible Patient Companion: </a:t>
            </a:r>
            <a:r>
              <a:rPr b="0">
                <a:solidFill>
                  <a:srgbClr val="8CF0AF"/>
                </a:solidFill>
              </a:rPr>
              <a:t>Asthma patients receive plain-language guidance, CPCB AQI smog timelines, AI copilot breathing guides, and 1-tap emergency 112/108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SYSTEM ARCHITECTURE // END-TO-END DATA FLOW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Multimodal Three-Stream Fusion &amp; Service Gateway Architecture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From Wearable Sensor Ingestion to Mechanistic Latent ODE Simulation, Neural Stacking, and Dual Next.js Portals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1323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0225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0225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Full System Architecture Diagram (Data Streams, Neural Pipeline, Latent ODE, FastAPI &amp; Next.js)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463040"/>
            <a:ext cx="41422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ARCHITECTURE HIGHLIGHTS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Layer 1: Multimodal Ingestion: </a:t>
            </a:r>
            <a:r>
              <a:rPr b="0">
                <a:solidFill>
                  <a:srgbClr val="8CF0AF"/>
                </a:solidFill>
              </a:rPr>
              <a:t>Stream 1: Static EHR (60 features)
Stream 2: Dynamic Wearables (20 ch x 12h)
Stream 3: Environmental AQI (70+ stations)
Database: PostgreSQL 16 + SQLAlchemy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Layer 2: Hybrid Twin Engine: </a:t>
            </a:r>
            <a:r>
              <a:rPr b="0">
                <a:solidFill>
                  <a:srgbClr val="8CF0AF"/>
                </a:solidFill>
              </a:rPr>
              <a:t>• Stage 1A: Dilated TCN (Static + Dynamic)
• Stage 1B: XGBoost Multi-Target Suite
• Stage 2: Stacking MLP Meta-Learner
• Biophysical Latent ODE Airway Simulator
• Stage 3: LLM Clinical Note Extractor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Layer 3: Delivery Gateway: </a:t>
            </a:r>
            <a:r>
              <a:rPr b="0">
                <a:solidFill>
                  <a:srgbClr val="8CF0AF"/>
                </a:solidFill>
              </a:rPr>
              <a:t>• FastAPI Service Layer (:8000 REST API)
• Replay Simulation Clock (t = 12..239h)
• Doctor Portal: Next.js 16 + Three.js
• Patient Portal: Plain-language companion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Security &amp; Standards: </a:t>
            </a:r>
            <a:r>
              <a:rPr b="0">
                <a:solidFill>
                  <a:srgbClr val="8CF0AF"/>
                </a:solidFill>
              </a:rPr>
              <a:t>ASD-STE100 technical documentation, DPDP Act data minimization, MIT Open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DATA ENGINEERING // THREE-STREAM DATA FUSION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Multimodal Input Ingestion, Telemetry Channels &amp; Database Persistence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Harmonizing Longitudinal Clinical History, High-Frequency Biosensors, and Ambient City Pollution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STREAM 01: STATIC CLINICAL EHR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Feature Dimensionality: </a:t>
            </a:r>
            <a:r>
              <a:rPr b="0">
                <a:solidFill>
                  <a:srgbClr val="8CF0AF"/>
                </a:solidFill>
              </a:rPr>
              <a:t>60 normalized clinical baseline attributes.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Patient Demographics: </a:t>
            </a:r>
            <a:r>
              <a:rPr b="0">
                <a:solidFill>
                  <a:srgbClr val="8CF0AF"/>
                </a:solidFill>
              </a:rPr>
              <a:t>Age, sex, BMI, smoking history &amp; pack-years.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Baseline Spirometry: </a:t>
            </a:r>
            <a:r>
              <a:rPr b="0">
                <a:solidFill>
                  <a:srgbClr val="8CF0AF"/>
                </a:solidFill>
              </a:rPr>
              <a:t>FEV1 (% predicted), FEV1/FVC ratio, PEF.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Medication Profile: </a:t>
            </a:r>
            <a:r>
              <a:rPr b="0">
                <a:solidFill>
                  <a:srgbClr val="8CF0AF"/>
                </a:solidFill>
              </a:rPr>
              <a:t>Prescribed controller regimen (ICS, LABA, LAMA) and documented baseline adherence %.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Exacerbation History: </a:t>
            </a:r>
            <a:r>
              <a:rPr b="0">
                <a:solidFill>
                  <a:srgbClr val="8CF0AF"/>
                </a:solidFill>
              </a:rPr>
              <a:t>Prior annual flare-ups, emergency room visits, past ICU intubations.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Storage Location: </a:t>
            </a:r>
            <a:r>
              <a:rPr b="0">
                <a:solidFill>
                  <a:srgbClr val="8CF0AF"/>
                </a:solidFill>
              </a:rPr>
              <a:t>aasthma/dataset/data/static/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6576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STREAM 02: DYNAMIC WEARABLES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Sliding Window Lookback: </a:t>
            </a:r>
            <a:r>
              <a:rPr b="0">
                <a:solidFill>
                  <a:srgbClr val="8CF0AF"/>
                </a:solidFill>
              </a:rPr>
              <a:t>12-hour sliding window (20 channels @ 1h cadence).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Cardiorespiratory Biosensors: </a:t>
            </a:r>
            <a:r>
              <a:rPr b="0">
                <a:solidFill>
                  <a:srgbClr val="8CF0AF"/>
                </a:solidFill>
              </a:rPr>
              <a:t>Continuous SpO2 (%), resting heart rate, respiratory rate, HRV rMSSD (ms).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Activity &amp; Rest biometrics: </a:t>
            </a:r>
            <a:r>
              <a:rPr b="0">
                <a:solidFill>
                  <a:srgbClr val="8CF0AF"/>
                </a:solidFill>
              </a:rPr>
              <a:t>Skin temperature, hourly step counts, deep sleep %, nocturnal awakenings.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Symptom &amp; Rescue Log: </a:t>
            </a:r>
            <a:r>
              <a:rPr b="0">
                <a:solidFill>
                  <a:srgbClr val="8CF0AF"/>
                </a:solidFill>
              </a:rPr>
              <a:t>SABA inhaler actuations, self-reported cough, wheeze, and dyspnea scores (0-3).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Storage Location: </a:t>
            </a:r>
            <a:r>
              <a:rPr b="0">
                <a:solidFill>
                  <a:srgbClr val="8CF0AF"/>
                </a:solidFill>
              </a:rPr>
              <a:t>aasthma/dataset/data/dynamic/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77647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STREAM 03 &amp; POSTGRESQL STORE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Ambient City Pollution: </a:t>
            </a:r>
            <a:r>
              <a:rPr b="0">
                <a:solidFill>
                  <a:srgbClr val="8CF0AF"/>
                </a:solidFill>
              </a:rPr>
              <a:t>Live and replayed PM2.5, PM10, AQI index, ambient temperature, relative humidity.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CPCB Indian Grid: </a:t>
            </a:r>
            <a:r>
              <a:rPr b="0">
                <a:solidFill>
                  <a:srgbClr val="8CF0AF"/>
                </a:solidFill>
              </a:rPr>
              <a:t>70+ municipal monitoring stations across Delhi, Mumbai, Kolkata, Bengaluru, Jaipur.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Simulation Replay Clock: </a:t>
            </a:r>
            <a:r>
              <a:rPr b="0">
                <a:solidFill>
                  <a:srgbClr val="8CF0AF"/>
                </a:solidFill>
              </a:rPr>
              <a:t>Simulates acute smog surges with scrubbable clock from t = 12h to t = 239h.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PostgreSQL 16 Schema: </a:t>
            </a:r>
            <a:r>
              <a:rPr b="0">
                <a:solidFill>
                  <a:srgbClr val="8CF0AF"/>
                </a:solidFill>
              </a:rPr>
              <a:t>patients, timeseries_telemetry, clinical_events, patient_daily_logs, user_accounts.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Storage Engine: </a:t>
            </a:r>
            <a:r>
              <a:rPr b="0">
                <a:solidFill>
                  <a:srgbClr val="8CF0AF"/>
                </a:solidFill>
              </a:rPr>
              <a:t>Dockerized PostgreSQL 16 (port 5432) with SQLAlchemy 2.0 and Psycopg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PHYSIOLOGICAL MODELING // MECHANISTIC LATENT ODE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Biophysical Airway Inflammation State Estimator &amp; Counterfactual Engine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Grounding Black-Box Neural Models in Causal Pharmacological and Environmental Differential Equations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858000" cy="201168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STOCHASTIC DIFFERENTIAL EQUATION FORMULATION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Governing Equation: </a:t>
            </a:r>
            <a:r>
              <a:rPr b="0">
                <a:solidFill>
                  <a:srgbClr val="8CF0AF"/>
                </a:solidFill>
              </a:rPr>
              <a:t>dI/dt = -k·I(t) + a·Dose_PM(t) + b·Trigger(t) + δ_sys - c·η_abs·Controller(t) + σ·ξ(t)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State Variable I(t): </a:t>
            </a:r>
            <a:r>
              <a:rPr b="0">
                <a:solidFill>
                  <a:srgbClr val="8CF0AF"/>
                </a:solidFill>
              </a:rPr>
              <a:t>Continuous latent airway inflammation state bounded in [0.05, 1.0]. Flare-up threshold = 0.65.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Numerical Integration: </a:t>
            </a:r>
            <a:r>
              <a:rPr b="0">
                <a:solidFill>
                  <a:srgbClr val="8CF0AF"/>
                </a:solidFill>
              </a:rPr>
              <a:t>Euler-Maruyama stochastic solver executed at dt = 1.0h with personal baseline calibration.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Counterfactual Speed: </a:t>
            </a:r>
            <a:r>
              <a:rPr b="0">
                <a:solidFill>
                  <a:srgbClr val="8CF0AF"/>
                </a:solidFill>
              </a:rPr>
              <a:t>Re-integrates 48-hour perturbed trajectories and feeds neural ensemble in &lt; 65 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11880"/>
            <a:ext cx="6858000" cy="251460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PHYSIOLOGICALLY AUDITED PARAMETERS &amp; LITERATURE GROUNDING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Decay Rate k = 0.08 h⁻¹: </a:t>
            </a:r>
            <a:r>
              <a:rPr b="0">
                <a:solidFill>
                  <a:srgbClr val="8CF0AF"/>
                </a:solidFill>
              </a:rPr>
              <a:t>Spontaneous mucosal clearance &amp; recovery (half-life ~8.6h; Barnes PJ, JACI 2010).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Particulate Intake a = 0.0009: </a:t>
            </a:r>
            <a:r>
              <a:rPr b="0">
                <a:solidFill>
                  <a:srgbClr val="8CF0AF"/>
                </a:solidFill>
              </a:rPr>
              <a:t>PM2.5 alveolar deposition scaled by airway hyperresponsiveness β_AHR (Guarnieri, Lancet 2014).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Trigger Sensitivity b = 0.02: </a:t>
            </a:r>
            <a:r>
              <a:rPr b="0">
                <a:solidFill>
                  <a:srgbClr val="8CF0AF"/>
                </a:solidFill>
              </a:rPr>
              <a:t>Vagal hyperresponsiveness to rapid temperature/humidity shifts (Graudenz, Chest 2006).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Systemic Spillover δ_sys: </a:t>
            </a:r>
            <a:r>
              <a:rPr b="0">
                <a:solidFill>
                  <a:srgbClr val="8CF0AF"/>
                </a:solidFill>
              </a:rPr>
              <a:t>Cytokine load (IL-6, TNF-α) from concurrent febrile infections extracted by Stage-3 LLM.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ICS Efficacy c = 0.10 h⁻¹: </a:t>
            </a:r>
            <a:r>
              <a:rPr b="0">
                <a:solidFill>
                  <a:srgbClr val="8CF0AF"/>
                </a:solidFill>
              </a:rPr>
              <a:t>Eosinophilic clearance rate scaled by controller adherence &amp; absorption (GINA 2023).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463040"/>
            <a:ext cx="44165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COUNTERFACTUAL WHAT-IF CAPABILITIES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Intervention 01: Stay Indoors: </a:t>
            </a:r>
            <a:r>
              <a:rPr b="0">
                <a:solidFill>
                  <a:srgbClr val="8CF0AF"/>
                </a:solidFill>
              </a:rPr>
              <a:t>Models zero outdoor transit exposure; indoor particulate concentration is governed by infiltration ratio (P = 0.65).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Intervention 02: Wear N95 Mask: </a:t>
            </a:r>
            <a:r>
              <a:rPr b="0">
                <a:solidFill>
                  <a:srgbClr val="8CF0AF"/>
                </a:solidFill>
              </a:rPr>
              <a:t>Applies 95% particulate filtration efficiency to all outdoor commute hours, blunting acute PM2.5 spikes.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Intervention 03: HEPA Air Purifier: </a:t>
            </a:r>
            <a:r>
              <a:rPr b="0">
                <a:solidFill>
                  <a:srgbClr val="8CF0AF"/>
                </a:solidFill>
              </a:rPr>
              <a:t>Simulates continuous bedroom filtration, suppressing indoor PM2.5 by 70% and accelerating nocturnal airway healing.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Intervention 04: ICS Step-Up: </a:t>
            </a:r>
            <a:r>
              <a:rPr b="0">
                <a:solidFill>
                  <a:srgbClr val="8CF0AF"/>
                </a:solidFill>
              </a:rPr>
              <a:t>Simulates 100% adherence to inhaled corticosteroid therapy, computing accelerated mucosal recovery rate.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Clinical Utility: </a:t>
            </a:r>
            <a:r>
              <a:rPr b="0">
                <a:solidFill>
                  <a:srgbClr val="8CF0AF"/>
                </a:solidFill>
              </a:rPr>
              <a:t>Pulmonologists can verify whether environmental adaptations alone prevent an attack or whether medication step-up is mandatory.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MACHINE LEARNING CORE // 3-STAGE PREDICTIVE ENSEMBLE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Deep Dilated TCN + XGBoost Multi-Target + Stacking MLP Meta-Learner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Hierarchical Multimodal Architecture Achieving 0.940 (24h) and 0.943 (48h) Held-Out ROC-AUC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STAGE 1A: DILATED TCN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Model Architecture: </a:t>
            </a:r>
            <a:r>
              <a:rPr b="0">
                <a:solidFill>
                  <a:srgbClr val="8CF0AF"/>
                </a:solidFill>
              </a:rPr>
              <a:t>DigitalTwinFusionModel in PyTorch.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StaticMLPEncoder: </a:t>
            </a:r>
            <a:r>
              <a:rPr b="0">
                <a:solidFill>
                  <a:srgbClr val="8CF0AF"/>
                </a:solidFill>
              </a:rPr>
              <a:t>Encodes 60 static EHR features:
Linear(60, 128) -&gt; BatchNorm1d -&gt; ReLU -&gt; Dropout(0.2) -&gt; Linear(128, 64).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Conv1DDynamicEncoder: </a:t>
            </a:r>
            <a:r>
              <a:rPr b="0">
                <a:solidFill>
                  <a:srgbClr val="8CF0AF"/>
                </a:solidFill>
              </a:rPr>
              <a:t>Ingests 20-channel x 12h telemetry matrix through 3 dilated 1D Conv blocks (d = 1, 2, 4) with channels 20 -&gt; 32 -&gt; 64 -&gt; 128.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Multi-Task Prediction Heads: </a:t>
            </a:r>
            <a:r>
              <a:rPr b="0">
                <a:solidFill>
                  <a:srgbClr val="8CF0AF"/>
                </a:solidFill>
              </a:rPr>
              <a:t>Concatenates static (64D) and dynamic (128D) into multi-head outputs:
• logit_24h: 24h flare-up risk
• logit_48h: 48h severe risk
• logits_sev: 4 severity grades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Checkpoint File: </a:t>
            </a:r>
            <a:r>
              <a:rPr b="0">
                <a:solidFill>
                  <a:srgbClr val="8CF0AF"/>
                </a:solidFill>
              </a:rPr>
              <a:t>aasthma/training/model1/digital_twin_model.pt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6576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STAGE 1B: XGBOOST SUITE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Model Architecture: </a:t>
            </a:r>
            <a:r>
              <a:rPr b="0">
                <a:solidFill>
                  <a:srgbClr val="8CF0AF"/>
                </a:solidFill>
              </a:rPr>
              <a:t>Multi-Target Gradient Boosted Trees.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Statistical Feature Matrix: </a:t>
            </a:r>
            <a:r>
              <a:rPr b="0">
                <a:solidFill>
                  <a:srgbClr val="8CF0AF"/>
                </a:solidFill>
              </a:rPr>
              <a:t>Computes rolling window statistics (mean, std, min, max, delta) across all 20 wearable channels over 12 hours.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Temporal Lag Shifts: </a:t>
            </a:r>
            <a:r>
              <a:rPr b="0">
                <a:solidFill>
                  <a:srgbClr val="8CF0AF"/>
                </a:solidFill>
              </a:rPr>
              <a:t>Incorporates lag shifts (t-2, t-1, t, t+1, t+2) to capture dynamic acceleration and vital trend drift.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Static EHR Conditioning: </a:t>
            </a:r>
            <a:r>
              <a:rPr b="0">
                <a:solidFill>
                  <a:srgbClr val="8CF0AF"/>
                </a:solidFill>
              </a:rPr>
              <a:t>Fuses 60 baseline EHR features alongside tabular rolling aggregates.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Independent Tree Heads: </a:t>
            </a:r>
            <a:r>
              <a:rPr b="0">
                <a:solidFill>
                  <a:srgbClr val="8CF0AF"/>
                </a:solidFill>
              </a:rPr>
              <a:t>Trained on identical patient folds to generate tree-based probability distributions.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Checkpoint File: </a:t>
            </a:r>
            <a:r>
              <a:rPr b="0">
                <a:solidFill>
                  <a:srgbClr val="8CF0AF"/>
                </a:solidFill>
              </a:rPr>
              <a:t>aasthma/training/model2/gb_digital_twin_models.pkl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77647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STAGE 2: STACKING META-LEARNER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Model Architecture: </a:t>
            </a:r>
            <a:r>
              <a:rPr b="0">
                <a:solidFill>
                  <a:srgbClr val="8CF0AF"/>
                </a:solidFill>
              </a:rPr>
              <a:t>RespiTwinMLPMetaLearner (PyTorch).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Input Probability Vector (12D): </a:t>
            </a:r>
            <a:r>
              <a:rPr b="0">
                <a:solidFill>
                  <a:srgbClr val="8CF0AF"/>
                </a:solidFill>
              </a:rPr>
              <a:t>[tcn_24h, xgb_24h, tcn_48h, xgb_48h, tcn_sev_0..3, xgb_sev_0..3].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Non-Linear Fusion Head: </a:t>
            </a:r>
            <a:r>
              <a:rPr b="0">
                <a:solidFill>
                  <a:srgbClr val="8CF0AF"/>
                </a:solidFill>
              </a:rPr>
              <a:t>Linear(12, 32) -&gt; BatchNorm1d -&gt; ReLU -&gt; Dropout(0.2) -&gt; Linear(32, 16) -&gt; ReLU -&gt; 3 Task Heads.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Conformal 90% Bands: </a:t>
            </a:r>
            <a:r>
              <a:rPr b="0">
                <a:solidFill>
                  <a:srgbClr val="8CF0AF"/>
                </a:solidFill>
              </a:rPr>
              <a:t>Computes statistical uncertainty bounds guaranteeing coverage under noisy biometrics.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Personal SHAP Drivers: </a:t>
            </a:r>
            <a:r>
              <a:rPr b="0">
                <a:solidFill>
                  <a:srgbClr val="8CF0AF"/>
                </a:solidFill>
              </a:rPr>
              <a:t>Derives local SHAP attributions against personal baseline Z-scores in &lt; 5 ms.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Checkpoint File: </a:t>
            </a:r>
            <a:r>
              <a:rPr b="0">
                <a:solidFill>
                  <a:srgbClr val="8CF0AF"/>
                </a:solidFill>
              </a:rPr>
              <a:t>aasthma/training/meta_ensemble_model.pt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CONTINUAL LEARNING // LLM FEATURE EXTRACTION &amp; EWC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Dynamic Unstructured Clinical Note Ingestion &amp; Anti-Forgetting Retraining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Extracting Pathophysiology from Free-Text Notes and Adapting the Meta-Learner without Catastrophic Forgetting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STAGE 3: LLM CLINICAL FEATURE EXTRACTION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Unstructured Input Ingestion: </a:t>
            </a:r>
            <a:r>
              <a:rPr b="0">
                <a:solidFill>
                  <a:srgbClr val="8CF0AF"/>
                </a:solidFill>
              </a:rPr>
              <a:t>Clinicians input natural language observations (e.g., 'Patient diagnosed with Typhoid fever, 102.5°F, vomiting, dehydration, SpO2 down to 91%').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LLM Extraction Architecture: </a:t>
            </a:r>
            <a:r>
              <a:rPr b="0">
                <a:solidFill>
                  <a:srgbClr val="8CF0AF"/>
                </a:solidFill>
              </a:rPr>
              <a:t>Powered by OpenAI GPT-4o or Hugging Face InferenceClient (Llama-3.1-8B-Instruct / Qwen2.5-72B-Instruct) with Pydantic validation.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Automated ICD-10 Mapping: </a:t>
            </a:r>
            <a:r>
              <a:rPr b="0">
                <a:solidFill>
                  <a:srgbClr val="8CF0AF"/>
                </a:solidFill>
              </a:rPr>
              <a:t>Identifies conditions (e.g. Typhoid Fever ICD-10: A01.0, Dengue A97.1) and maps systemic severity.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Derived Vital Perturbations: </a:t>
            </a:r>
            <a:r>
              <a:rPr b="0">
                <a:solidFill>
                  <a:srgbClr val="8CF0AF"/>
                </a:solidFill>
              </a:rPr>
              <a:t>Generates quantitative offsets: ΔSkin Temp (+2.5°C), ΔResting HR (+25 bpm), ΔRR (+5 br/min), ΔSpO2 (-3.2%), and HRV reduction.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Biophysical ODE Modifiers: </a:t>
            </a:r>
            <a:r>
              <a:rPr b="0">
                <a:solidFill>
                  <a:srgbClr val="8CF0AF"/>
                </a:solidFill>
              </a:rPr>
              <a:t>Injects systemic cytokine load (δ_sys = 0.65), scales airway hyperresponsiveness (β_AHR = 1.60), and modifies absorption efficiency (η_abs = 0.70).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7881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CONTINUAL RETRAINING WITH EWC REGULARIZATION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Experience Replay Buffer: </a:t>
            </a:r>
            <a:r>
              <a:rPr b="0">
                <a:solidFill>
                  <a:srgbClr val="8CF0AF"/>
                </a:solidFill>
              </a:rPr>
              <a:t>Verified clinical outlier episodes are committed to PostgreSQL (`/api/patients/{id}/clinical-note/commit`) with full physician audit trails.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The Catastrophic Forgetting Risk: </a:t>
            </a:r>
            <a:r>
              <a:rPr b="0">
                <a:solidFill>
                  <a:srgbClr val="8CF0AF"/>
                </a:solidFill>
              </a:rPr>
              <a:t>Retraining on rare infections can degrade the neural network's baseline asthma discrimination accuracy.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Elastic Weight Consolidation (EWC): </a:t>
            </a:r>
            <a:r>
              <a:rPr b="0">
                <a:solidFill>
                  <a:srgbClr val="8CF0AF"/>
                </a:solidFill>
              </a:rPr>
              <a:t>Adds a quadratic regularization penalty to the task loss proportional to parameter importance:
L_total(θ) = L_outlier(θ) + (λ_EWC / 2) · Σ F_i · (θ_i - θ_i,base)²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Fisher Information Matrix F_i: </a:t>
            </a:r>
            <a:r>
              <a:rPr b="0">
                <a:solidFill>
                  <a:srgbClr val="8CF0AF"/>
                </a:solidFill>
              </a:rPr>
              <a:t>Computes diagonal Fisher information over baseline training distribution, freezing parameters critical to base asthma patterns while adapting unconstrained weights.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Safety Verification Gate: </a:t>
            </a:r>
            <a:r>
              <a:rPr b="0">
                <a:solidFill>
                  <a:srgbClr val="8CF0AF"/>
                </a:solidFill>
              </a:rPr>
              <a:t>Retrained checkpoints undergo automatic Brier score calibration checks before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INTERFACE 01 // POPULATION HEALTH TRIAGE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Outpatient Cohort Risk Roster &amp; Replay Clock Controls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Instantaneous Risk-Ranked Triage Badges, CPCB Station AQI Overlays, and 48-Hour Alert Lead 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589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octor_cohort_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479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479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Doctor Portal: Ranked Asthma Patient Cohort Roster (/patients)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85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INTERFACE CAPABILITIES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Automated Risk Sorting: </a:t>
            </a:r>
            <a:r>
              <a:rPr b="0">
                <a:solidFill>
                  <a:srgbClr val="8CF0AF"/>
                </a:solidFill>
              </a:rPr>
              <a:t>Cohort automatically sorted by prospective 48h exacerbation probability.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Population Summary Banner: </a:t>
            </a:r>
            <a:r>
              <a:rPr b="0">
                <a:solidFill>
                  <a:srgbClr val="8CF0AF"/>
                </a:solidFill>
              </a:rPr>
              <a:t>Displays total monitored (12), active critical alerts (9), cohort mean risk (75%), and regional AQI peaks (Mumbai 244).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Conformal CI &amp; Lead Time: </a:t>
            </a:r>
            <a:r>
              <a:rPr b="0">
                <a:solidFill>
                  <a:srgbClr val="8CF0AF"/>
                </a:solidFill>
              </a:rPr>
              <a:t>Each patient row displays 48h risk, 90% conformal interval [94-100%], and alert warning lead time (&gt; 32h).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Environmental DPCC Overlay: </a:t>
            </a:r>
            <a:r>
              <a:rPr b="0">
                <a:solidFill>
                  <a:srgbClr val="8CF0AF"/>
                </a:solidFill>
              </a:rPr>
              <a:t>Shows live municipal PM2.5 and AQI index for each patient's home station.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Simulation Replay Clock: </a:t>
            </a:r>
            <a:r>
              <a:rPr b="0">
                <a:solidFill>
                  <a:srgbClr val="8CF0AF"/>
                </a:solidFill>
              </a:rPr>
              <a:t>Audits past flare-up progressions with -12h, +12h, +24h time scrubbing.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Dark / Light Tactical Mode: </a:t>
            </a:r>
            <a:r>
              <a:rPr b="0">
                <a:solidFill>
                  <a:srgbClr val="8CF0AF"/>
                </a:solidFill>
              </a:rPr>
              <a:t>Instant switch between clinical white and low-strain tactical dark terminal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INTERFACE 02 // 3D PULMONARY VIEWPORT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Three.js Anatomical Lung Viewer &amp; GLSL Thermal Inflammation Shader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Real-Time Spatial Reveal of Bronchial Constriction, Region-of-Interest Inspection &amp; Latent State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09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ung-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5193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5193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WebGL GLSL Bronchial Thermal Inflammation Shader (/patients/[id])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463040"/>
            <a:ext cx="5971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PHYSIOLOGICAL TWIN VIEWPORT FEATURES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Interactive 3D Anatomical Mesh: </a:t>
            </a:r>
            <a:r>
              <a:rPr b="0">
                <a:solidFill>
                  <a:srgbClr val="8CF0AF"/>
                </a:solidFill>
              </a:rPr>
              <a:t>High-fidelity GLTF 3D tracheobronchial tree rendered with Three.js and responsive WebGL orbit controls.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Dynamic GLSL Thermal Shader: </a:t>
            </a:r>
            <a:r>
              <a:rPr b="0">
                <a:solidFill>
                  <a:srgbClr val="8CF0AF"/>
                </a:solidFill>
              </a:rPr>
              <a:t>Procedural fragment shader maps latent airway inflammation state I(t) to an anatomical thermal heatmap (cool green to glowing critical amber/red).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Region of Interest (ROI) Inspection: </a:t>
            </a:r>
            <a:r>
              <a:rPr b="0">
                <a:solidFill>
                  <a:srgbClr val="8CF0AF"/>
                </a:solidFill>
              </a:rPr>
              <a:t>Clinicians can drill into specific anatomical zones: Mainstem Tracheobronchial Junction, Carina, Right/Left Apical &amp; Basilar zones.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Biophysical Metrics Overlay: </a:t>
            </a:r>
            <a:r>
              <a:rPr b="0">
                <a:solidFill>
                  <a:srgbClr val="8CF0AF"/>
                </a:solidFill>
              </a:rPr>
              <a:t>Latent Inflammation Load: I(t) = 0.53 / 1.00 (Threshold 0.65)
Airway Resistance: +24% above personal baseline
Ambient PM2.5: 62 µg/m³ • SABA Rescue Actuations: 7 doses in 24h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Personal Baseline Normalization: </a:t>
            </a:r>
            <a:r>
              <a:rPr b="0">
                <a:solidFill>
                  <a:srgbClr val="8CF0AF"/>
                </a:solidFill>
              </a:rPr>
              <a:t>Compares incoming 12h wearable telemetry against individual 7-day converged resting physiological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INTERFACE 03 // CONFORMAL FORECAST &amp; EXPLAINABILITY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Prospective Risk Gauges, Conformal Uncertainty Bands &amp; SHAP Waterfall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Auditable 24h &amp; 48h Risk Trajectories Scrubbable Across Time with Direct Physiological Driver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589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conformal_forecast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479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479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Conformal Cumulative Risk Curve &amp; SHAP Attribution Waterfall (/patients/[id]/forecast)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85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FORECAST &amp; REASONING FEATURES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Dual Horizon Risk Gauges: </a:t>
            </a:r>
            <a:r>
              <a:rPr b="0">
                <a:solidFill>
                  <a:srgbClr val="8CF0AF"/>
                </a:solidFill>
              </a:rPr>
              <a:t>Prospective predictions for 24h flare-up risk (100%) and 48h severe exacerbation risk (100%).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90% Conformal Prediction Bands: </a:t>
            </a:r>
            <a:r>
              <a:rPr b="0">
                <a:solidFill>
                  <a:srgbClr val="8CF0AF"/>
                </a:solidFill>
              </a:rPr>
              <a:t>Guarantees statistical coverage under real-world sensor noise and missing wearable samples (CI: [95%-100%]).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Hourly Timeline Scrubber: </a:t>
            </a:r>
            <a:r>
              <a:rPr b="0">
                <a:solidFill>
                  <a:srgbClr val="8CF0AF"/>
                </a:solidFill>
              </a:rPr>
              <a:t>Scrub through prospective hours t+0 to t+48 to inspect when risk crosses the 70% Alert Threshold.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SHAP Feature Drivers: </a:t>
            </a:r>
            <a:r>
              <a:rPr b="0">
                <a:solidFill>
                  <a:srgbClr val="8CF0AF"/>
                </a:solidFill>
              </a:rPr>
              <a:t>Ranks dominant exacerbation contributors:
• SABA Rescue Inhaler Spikes (+48% impact)
• Nocturnal SpO2 desaturations
• Elevated resting respiratory rate
• Particulate PM2.5 exposure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Targeted Action Guidance: </a:t>
            </a:r>
            <a:r>
              <a:rPr b="0">
                <a:solidFill>
                  <a:srgbClr val="8CF0AF"/>
                </a:solidFill>
              </a:rPr>
              <a:t>Synthesizes clinical recommendations aligned directly with primary SHAP risk factors.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INTERFACE 04 // COUNTERFACTUAL INTERVENTION SANDBOX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Interactive Simulation Sandbox for Preventative Clinical Decision Support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Testing Outdoor Exposure, N95 Masks, HEPA Filtration, and ICS Adherence in &lt; 65 ms Before Advising Patients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589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counterfactual_whatif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479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479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Interactive Counterfactual What-If Simulation Sandbox (/patients/[id]/what-if)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85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WHAT-IF SANDBOX CAPABILITIES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Interactive Action Sliders: </a:t>
            </a:r>
            <a:r>
              <a:rPr b="0">
                <a:solidFill>
                  <a:srgbClr val="8CF0AF"/>
                </a:solidFill>
              </a:rPr>
              <a:t>1. Commute Exposure (0.0h to 6.0h/day) • 2. N95 Respirator (95% filtration) • 3. Controller Adherence (65% to 100%) • 4. HEPA Purifier (70% PM drop)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Real-Time Dual Comparison: </a:t>
            </a:r>
            <a:r>
              <a:rPr b="0">
                <a:solidFill>
                  <a:srgbClr val="8CF0AF"/>
                </a:solidFill>
              </a:rPr>
              <a:t>Side-by-side trajectory comparison: Without Changes (100% Risk, Swelling 0.53) vs With Your Actions (Calmed Airway 0.05).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Trajectory Divergence Graph: </a:t>
            </a:r>
            <a:r>
              <a:rPr b="0">
                <a:solidFill>
                  <a:srgbClr val="8CF0AF"/>
                </a:solidFill>
              </a:rPr>
              <a:t>Plots divergence between untreated path and simulated preventative regimen across 48 prospective hours.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Sub-65ms Response Time: </a:t>
            </a:r>
            <a:r>
              <a:rPr b="0">
                <a:solidFill>
                  <a:srgbClr val="8CF0AF"/>
                </a:solidFill>
              </a:rPr>
              <a:t>Enables instantaneous what-if exploration during outpatient consultations.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Clinical Decision Support: </a:t>
            </a:r>
            <a:r>
              <a:rPr b="0">
                <a:solidFill>
                  <a:srgbClr val="8CF0AF"/>
                </a:solidFill>
              </a:rPr>
              <a:t>Empowers doctors to prescribe lifestyle &amp; adherence adjustments backed by quantitative risk reduction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INTERFACE 05 // CLINICAL NOTE ADAPTATION &amp; RETRAINING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Outlier Symptom Translator &amp; Continual Retraining Studio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Transforming Free-Text Doctor Observations into Mechanistic Modifiers and Re-Training with EWC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589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clinical_note_adaptation_ew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479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479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Clinical Note Adaptation &amp; Outlier Re-Simulation Studio (/patients/[id]/adapt)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85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NOTE ADAPTATION WORKFLOW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Unstructured Note Parsing: </a:t>
            </a:r>
            <a:r>
              <a:rPr b="0">
                <a:solidFill>
                  <a:srgbClr val="8CF0AF"/>
                </a:solidFill>
              </a:rPr>
              <a:t>Doctors enter clinical notes (e.g. Typhoid, Dengue, acute gastroenteritis, beta-blocker initiation).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9 Derived Physiological Features: </a:t>
            </a:r>
            <a:r>
              <a:rPr b="0">
                <a:solidFill>
                  <a:srgbClr val="8CF0AF"/>
                </a:solidFill>
              </a:rPr>
              <a:t>Maps condition to ICD-10 (A01.0) and derives fever offsets, systemic endotoxemia, and vagal suppression.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Instant Re-Simulation: </a:t>
            </a:r>
            <a:r>
              <a:rPr b="0">
                <a:solidFill>
                  <a:srgbClr val="8CF0AF"/>
                </a:solidFill>
              </a:rPr>
              <a:t>Re-evaluates twin with modified ODE state:
Latent inflammation jumps from 0.53 to 0.96 (Critical Mucosal Stress).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Experience Replay Buffer: </a:t>
            </a:r>
            <a:r>
              <a:rPr b="0">
                <a:solidFill>
                  <a:srgbClr val="8CF0AF"/>
                </a:solidFill>
              </a:rPr>
              <a:t>One-click commit saves outlier trajectory to PostgreSQL audit log.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EWC Retraining Trigger: </a:t>
            </a:r>
            <a:r>
              <a:rPr b="0">
                <a:solidFill>
                  <a:srgbClr val="8CF0AF"/>
                </a:solidFill>
              </a:rPr>
              <a:t>Fine-tunes RespiTwinMLPMetaLearner on outliers with quadratic Fisher regularization, preventing catastrophic forgetting.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PATIENT COMPANION 01 // ACCESSIBLE SELF-MANAGEMENT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Plain-Language Risk Status, Local AQI Advisory &amp; Air Outlook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Jargon-Free Risk Status, Best/Worst Smog Windows, and Grounded Daily Asthmatic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589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patient_portal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479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479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Patient Portal Desktop Overview: Plain-Language Risk &amp; City AQI (/patient-portal)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85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PATIENT-FACING FEATURES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Plain-Language Status Card: </a:t>
            </a:r>
            <a:r>
              <a:rPr b="0">
                <a:solidFill>
                  <a:srgbClr val="8CF0AF"/>
                </a:solidFill>
              </a:rPr>
              <a:t>Converts complex AI probabilities into intuitive cards: 'WATCH (REDUCED)' with easy-to-read gauges.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Clear Physiological Explanation: </a:t>
            </a:r>
            <a:r>
              <a:rPr b="0">
                <a:solidFill>
                  <a:srgbClr val="8CF0AF"/>
                </a:solidFill>
              </a:rPr>
              <a:t>'Outdoor air quality is relatively calm today and your breathing and sleep signals have stayed close to your usual.'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City AQI &amp; Best Windows: </a:t>
            </a:r>
            <a:r>
              <a:rPr b="0">
                <a:solidFill>
                  <a:srgbClr val="8CF0AF"/>
                </a:solidFill>
              </a:rPr>
              <a:t>New Delhi Anand Vihar: 108 AQI. Highlights best transit hours (2:00-4:30 PM) and worst smog inversion hours (morn/eve).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48-Hour Air Outlook: </a:t>
            </a:r>
            <a:r>
              <a:rPr b="0">
                <a:solidFill>
                  <a:srgbClr val="8CF0AF"/>
                </a:solidFill>
              </a:rPr>
              <a:t>6 granular blocks: Afternoon, Tonight, Tomorrow Morning, Afternoon, Night, Day 2.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Personal Normal Comparison: </a:t>
            </a:r>
            <a:r>
              <a:rPr b="0">
                <a:solidFill>
                  <a:srgbClr val="8CF0AF"/>
                </a:solidFill>
              </a:rPr>
              <a:t>Shows whether body vitals (HR, RR, SpO2) are within individual resting normal bounds.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PATIENT COMPANION 02 // AI COPILOT &amp; OUTCOME LOGGING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Guided Breathing Exercises, Emergency Flags &amp; Daily Patient Check-In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Structured Copilot Guidance, Non-Pharmacological Precautions &amp; Two-Way Symptom Syncing with Doctor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5176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crop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254203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254203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Mobile Patient Portal Companion: 375px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463040"/>
            <a:ext cx="438912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AI PATIENT COPILOT REPORT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Strict Safety Guardrails: </a:t>
            </a:r>
            <a:r>
              <a:rPr b="0">
                <a:solidFill>
                  <a:srgbClr val="8CF0AF"/>
                </a:solidFill>
              </a:rPr>
              <a:t>Non-prescriptive; never alters medication; reinforces clinician-approved action plan.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Actionable Precautions: </a:t>
            </a:r>
            <a:r>
              <a:rPr b="0">
                <a:solidFill>
                  <a:srgbClr val="8CF0AF"/>
                </a:solidFill>
              </a:rPr>
              <a:t>Advises on indoor ventilation, keeping windows closed during morning smog, and wearing N95 during transit.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Active Triggers to Avoid: </a:t>
            </a:r>
            <a:r>
              <a:rPr b="0">
                <a:solidFill>
                  <a:srgbClr val="8CF0AF"/>
                </a:solidFill>
              </a:rPr>
              <a:t>Highlights current outdoor particulate surges, humidity drops, and rapid temperature changes.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Guided Breathing Exercises: </a:t>
            </a:r>
            <a:r>
              <a:rPr b="0">
                <a:solidFill>
                  <a:srgbClr val="8CF0AF"/>
                </a:solidFill>
              </a:rPr>
              <a:t>Step-by-step paced diaphragmatic and pursed-lip breathing routines to relieve respiratory tension.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Emergency Red-Flag Warnings: </a:t>
            </a:r>
            <a:r>
              <a:rPr b="0">
                <a:solidFill>
                  <a:srgbClr val="8CF0AF"/>
                </a:solidFill>
              </a:rPr>
              <a:t>Alerts patient to critical danger signs (bluish lips, speaking in broken words, severe chest retractions) requiring immediate 112/108 response.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463040"/>
            <a:ext cx="4050791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DAILY PATIENT OUTCOME (PRO) LOG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Rescue Medication Tracker: </a:t>
            </a:r>
            <a:r>
              <a:rPr b="0">
                <a:solidFill>
                  <a:srgbClr val="8CF0AF"/>
                </a:solidFill>
              </a:rPr>
              <a:t>Logs daily short-acting beta-agonist (SABA) rescue inhaler puffs.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Controller Confirmation: </a:t>
            </a:r>
            <a:r>
              <a:rPr b="0">
                <a:solidFill>
                  <a:srgbClr val="8CF0AF"/>
                </a:solidFill>
              </a:rPr>
              <a:t>Logs daily inhaled corticosteroid (ICS) doses taken to track true compliance.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Symptom Severity Scales: </a:t>
            </a:r>
            <a:r>
              <a:rPr b="0">
                <a:solidFill>
                  <a:srgbClr val="8CF0AF"/>
                </a:solidFill>
              </a:rPr>
              <a:t>Self-reported cough, wheeze, dyspnea, and nocturnal awakening frequency.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Direct Database Sync: </a:t>
            </a:r>
            <a:r>
              <a:rPr b="0">
                <a:solidFill>
                  <a:srgbClr val="8CF0AF"/>
                </a:solidFill>
              </a:rPr>
              <a:t>Instantly updates PostgreSQL timeseries telemetry ahead of next clinic visit.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Emergency Response Access: </a:t>
            </a:r>
            <a:r>
              <a:rPr b="0">
                <a:solidFill>
                  <a:srgbClr val="8CF0AF"/>
                </a:solidFill>
              </a:rPr>
              <a:t>Top prominent banner with 1-tap call to India's 112 / 108 emergency ambulance network.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EXPERIMENTAL VALIDATION // BENCHMARKS &amp; ABLATIONS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Comprehensive Quantitative Results Across Held-Out Patient Cohorts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Validating Discrimination Performance, Early Warning Lead Time, and Individual Component Ablations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85800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benchmarks_and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674827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674827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Model Ablation Suite &amp; Discrimination Metrics (/benchmarks)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63040"/>
            <a:ext cx="44165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HELD-OUT BENCHMARK COMPARISONS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Experimental Cohort Split: </a:t>
            </a:r>
            <a:r>
              <a:rPr b="0">
                <a:solidFill>
                  <a:srgbClr val="8CF0AF"/>
                </a:solidFill>
              </a:rPr>
              <a:t>Patient-level split (800 train / 100 val / 100 held-out test patients; seed 42).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BreathTwin Hybrid Core (Proposed): </a:t>
            </a:r>
            <a:r>
              <a:rPr b="0">
                <a:solidFill>
                  <a:srgbClr val="8CF0AF"/>
                </a:solidFill>
              </a:rPr>
              <a:t>• 24h ROC-AUC: 0.9399 | 48h ROC-AUC: 0.9428
• PR-AUC: 0.8560 | Recall @ 0.5: 0.7281
• Warning Lead Time: 42.4 ± 4.1 hours
• False Alarms: 0.7 / wk | Latency: &lt; 65 ms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Standard Recurrent Network (LSTM): </a:t>
            </a:r>
            <a:r>
              <a:rPr b="0">
                <a:solidFill>
                  <a:srgbClr val="8CF0AF"/>
                </a:solidFill>
              </a:rPr>
              <a:t>• ROC-AUC: 0.7850 | PR-AUC: 0.6840
• Warning Lead Time: 22.1 ± 5.8 hours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Tabular XGBoost-Only Baseline: </a:t>
            </a:r>
            <a:r>
              <a:rPr b="0">
                <a:solidFill>
                  <a:srgbClr val="8CF0AF"/>
                </a:solidFill>
              </a:rPr>
              <a:t>• ROC-AUC: 0.7410 | PR-AUC: 0.6310
• Warning Lead Time: 18.6 ± 6.2 hours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Key Ablation Findings: </a:t>
            </a:r>
            <a:r>
              <a:rPr b="0">
                <a:solidFill>
                  <a:srgbClr val="8CF0AF"/>
                </a:solidFill>
              </a:rPr>
              <a:t>Removing the Mechanistic ODE State Estimator drops PR-AUC from 0.83 to 0.74, proving causal physiological filtering is vital for early lead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MATHEMATICAL AUDIT // CLINICAL ASSUMPTIONS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Physiological Boundary Conditions &amp; Published Literature Citations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Every Mechanistic Parameter and Algorithmic Calibrator is Grounded in Published Pulmonology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85800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clinical_assum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674827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674827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Biophysical Assumptions &amp; Literature Citations Audit (/assumptions)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63040"/>
            <a:ext cx="44165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AUDITED PARAMETERS &amp; CITATIONS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Recovery Rate k = 0.08 h⁻¹: </a:t>
            </a:r>
            <a:r>
              <a:rPr b="0">
                <a:solidFill>
                  <a:srgbClr val="8CF0AF"/>
                </a:solidFill>
              </a:rPr>
              <a:t>Spontaneous clearance of bronchial epithelial inflammation without continuous insult.
Source: Barnes PJ, JACI 2010 (DOI: 10.1016/j.jaci.2010.02.034)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Particulate Intake a = 0.0045: </a:t>
            </a:r>
            <a:r>
              <a:rPr b="0">
                <a:solidFill>
                  <a:srgbClr val="8CF0AF"/>
                </a:solidFill>
              </a:rPr>
              <a:t>Rate of latent mucosal oxidative stress induction per unit of inhaled PM2.5.
Source: Guarnieri &amp; Balmes, Lancet 2014 (DOI: 10.1016/S0140-6736)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Trigger Sensitivity b = 0.020: </a:t>
            </a:r>
            <a:r>
              <a:rPr b="0">
                <a:solidFill>
                  <a:srgbClr val="8CF0AF"/>
                </a:solidFill>
              </a:rPr>
              <a:t>Vagal hyperresponsiveness responding to thermal shocks and humidity fluctuations.
Source: Graudenz et al., Chest 2006 (DOI: 10.1378/chest.129.3.645)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ICS Clearance c = 0.120 h⁻¹: </a:t>
            </a:r>
            <a:r>
              <a:rPr b="0">
                <a:solidFill>
                  <a:srgbClr val="8CF0AF"/>
                </a:solidFill>
              </a:rPr>
              <a:t>Eosinophilic cascade suppression via corticosteroid receptor binding.
Source: GINA Global Strategy for Asthma 2023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ASD-STE100 Compliance: </a:t>
            </a:r>
            <a:r>
              <a:rPr b="0">
                <a:solidFill>
                  <a:srgbClr val="8CF0AF"/>
                </a:solidFill>
              </a:rPr>
              <a:t>70% domain-adapted Simplified Technical English across all technical specifications.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ETHICAL &amp; REGULATORY COMPLIANCE // DPDP ACT &amp; SAFETY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Minimization, Role-Based Access &amp; Clinical Decision Support Boundaries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Designed from First Principles to Safeguard Patient Privacy, Prevent Autonomous Prescribing, and Maintain Auditability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DATA PRIVACY &amp; REGULATORY COMPLIANCE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100% Synthetic Patient Data: </a:t>
            </a:r>
            <a:r>
              <a:rPr b="0">
                <a:solidFill>
                  <a:srgbClr val="8CF0AF"/>
                </a:solidFill>
              </a:rPr>
              <a:t>Strictly zero real patient Protected Health Information (PHI) or Personally Identifiable Information (PII) is stored or processed. Entire cohort generated via physiological simulation.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DPDP Act (India) Compliance: </a:t>
            </a:r>
            <a:r>
              <a:rPr b="0">
                <a:solidFill>
                  <a:srgbClr val="8CF0AF"/>
                </a:solidFill>
              </a:rPr>
              <a:t>Engineered in strict adherence with India's Digital Personal Data Protection Act 2023:
• Purpose limitation &amp; storage minimization
• No persistent identifiable tracking
• Anonymized telemetry identifiers (PT-8821, PT-4409)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Cryptographic Session Guardrails: </a:t>
            </a:r>
            <a:r>
              <a:rPr b="0">
                <a:solidFill>
                  <a:srgbClr val="8CF0AF"/>
                </a:solidFill>
              </a:rPr>
              <a:t>Dual-role RBAC architecture enforcing cryptographic separation between doctor triage endpoints and patient self-management portals.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Audit Logging &amp; Reproducibility: </a:t>
            </a:r>
            <a:r>
              <a:rPr b="0">
                <a:solidFill>
                  <a:srgbClr val="8CF0AF"/>
                </a:solidFill>
              </a:rPr>
              <a:t>Full clinician-in-the-loop action logging stored in PostgreSQL with UTC timestamps.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7881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CLINICAL SAFETY &amp; ETHICAL BOUNDARIES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Clinical Decision Support, Not Autonomous Diagnosis: </a:t>
            </a:r>
            <a:r>
              <a:rPr b="0">
                <a:solidFill>
                  <a:srgbClr val="8CF0AF"/>
                </a:solidFill>
              </a:rPr>
              <a:t>BreathTwin functions strictly as an assistive risk triage and counterfactual simulation platform. It does not issue independent medical diagnoses.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Zero Autonomous Prescribing: </a:t>
            </a:r>
            <a:r>
              <a:rPr b="0">
                <a:solidFill>
                  <a:srgbClr val="8CF0AF"/>
                </a:solidFill>
              </a:rPr>
              <a:t>Stage-3 LLM prompts enforce non-prescriptive guardrails: copilot reports suggest lifestyle, ventilation, and breathing modifications while deferring drug adjustments to licensed physicians.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Conformal Statistical Coverage: </a:t>
            </a:r>
            <a:r>
              <a:rPr b="0">
                <a:solidFill>
                  <a:srgbClr val="8CF0AF"/>
                </a:solidFill>
              </a:rPr>
              <a:t>Wrapping predictions in 90% conformal bands prevents overconfident algorithmic output during abnormal sensor dropouts.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Auditable Open-Source Architecture: </a:t>
            </a:r>
            <a:r>
              <a:rPr b="0">
                <a:solidFill>
                  <a:srgbClr val="8CF0AF"/>
                </a:solidFill>
              </a:rPr>
              <a:t>Complete codebase licensed under permissive MIT Open-Source License for peer scrutiny and institutional verification.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Standard Containerization: </a:t>
            </a:r>
            <a:r>
              <a:rPr b="0">
                <a:solidFill>
                  <a:srgbClr val="8CF0AF"/>
                </a:solidFill>
              </a:rPr>
              <a:t>Easily deployed on premises via Docker Compose with zero cloud telemetry egress.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PROJECT DELIVERABLES &amp; CONCLUSION // REPRODUCIBILITY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BreathTwin Project Summary, Key Milestones &amp; Repository Artifacts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Inter-College Engineering Collaboration (LNMIIT &amp; NSUT) • Complete Open-Source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SUMMARY OF PROJECT ACHIEVEMENTS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Multimodal Digital Twin Delivered: </a:t>
            </a:r>
            <a:r>
              <a:rPr b="0">
                <a:solidFill>
                  <a:srgbClr val="8CF0AF"/>
                </a:solidFill>
              </a:rPr>
              <a:t>Successfully built and validated an end-to-end digital twin combining static EHR, 20-channel wearable biosensors, and municipal CPCB air quality telemetry.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Exceptional Predictive Accuracy: </a:t>
            </a:r>
            <a:r>
              <a:rPr b="0">
                <a:solidFill>
                  <a:srgbClr val="8CF0AF"/>
                </a:solidFill>
              </a:rPr>
              <a:t>Achieved 0.9399 (24h) and 0.9428 (48h) ROC-AUC on patient-split held-out test data with 42.4-hour warning lead time.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Real-Time Counterfactual Sandbox: </a:t>
            </a:r>
            <a:r>
              <a:rPr b="0">
                <a:solidFill>
                  <a:srgbClr val="8CF0AF"/>
                </a:solidFill>
              </a:rPr>
              <a:t>Developed biophysical latent ODE airway simulator evaluating interventions in &lt; 65 ms.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Dual Clinical &amp; Patient Interfaces: </a:t>
            </a:r>
            <a:r>
              <a:rPr b="0">
                <a:solidFill>
                  <a:srgbClr val="8CF0AF"/>
                </a:solidFill>
              </a:rPr>
              <a:t>Interactive WebGL/Three.js 3D lung viewer for doctors and accessible, plain-language companion for patients.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Continual Outlier Learning: </a:t>
            </a:r>
            <a:r>
              <a:rPr b="0">
                <a:solidFill>
                  <a:srgbClr val="8CF0AF"/>
                </a:solidFill>
              </a:rPr>
              <a:t>Pioneered LLM clinical note feature extraction with EWC anti-forgetting retraining.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7881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REPOSITORY ARTIFACTS &amp; ACCESS DETAILS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Submission Identifier: </a:t>
            </a:r>
            <a:r>
              <a:rPr b="0">
                <a:solidFill>
                  <a:srgbClr val="8CF0AF"/>
                </a:solidFill>
              </a:rPr>
              <a:t>ABAY_LNMIIT/NSUT  |  Inter-College Team (LNMIIT Jaipur &amp; NSUT New Delhi)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Public GitHub Repository: </a:t>
            </a:r>
            <a:r>
              <a:rPr b="0">
                <a:solidFill>
                  <a:srgbClr val="8CF0AF"/>
                </a:solidFill>
              </a:rPr>
              <a:t>https://github.com/Frisbee148/DigitalTwin  (MIT Open-Source License)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Documentation &amp; Artifacts: </a:t>
            </a:r>
            <a:r>
              <a:rPr b="0">
                <a:solidFill>
                  <a:srgbClr val="8CF0AF"/>
                </a:solidFill>
              </a:rPr>
              <a:t>• docs/Architecture_Diagram.pdf (Complete High-Res Architecture)
• docs/Project_Presentation.pdf (This Presentation Deck in PDF)
• docs/Project_Presentation.pptx (Native PowerPoint Source)
• README.md (ASD-STE100 Compliant Technical Documentation)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Quickstart Orchestration: </a:t>
            </a:r>
            <a:r>
              <a:rPr b="0">
                <a:solidFill>
                  <a:srgbClr val="8CF0AF"/>
                </a:solidFill>
              </a:rPr>
              <a:t>Single-command launch via `./run.sh` starts PostgreSQL 16, FastAPI (:8000), and Next.js 16 (:3000). Automated test suite via `pytest`.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Demo Video: </a:t>
            </a:r>
            <a:r>
              <a:rPr b="0">
                <a:solidFill>
                  <a:srgbClr val="8CF0AF"/>
                </a:solidFill>
              </a:rPr>
              <a:t>15–20 Minute Unlisted YouTube Clinical &amp; Architecture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