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B R E A T H T W I N  /  P R O J E C T  O V E R V I E 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65760"/>
            <a:ext cx="3687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586B61"/>
                </a:solidFill>
                <a:latin typeface="Liberation Sans"/>
              </a:defRPr>
            </a:pPr>
            <a:r>
              <a:t>05B / MULTIMODAL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37447"/>
                </a:solidFill>
                <a:latin typeface="Liberation Sans"/>
              </a:defRPr>
            </a:pPr>
            <a:r>
              <a:t>MULTIMODAL BIOSENSOR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173328"/>
                </a:solidFill>
                <a:latin typeface="Liberation Sans"/>
              </a:defRPr>
            </a:pPr>
            <a:r>
              <a:t>Smart acoustic audio and webcam facial distress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86B61"/>
                </a:solidFill>
                <a:latin typeface="Liberation Sans"/>
              </a:defRPr>
            </a:pPr>
            <a:r>
              <a:t>Two continuous patient-portal pipelines convert spontaneous microphone audio and camera frames into quantified clinical biomarkers and real-time digital twin adaptation.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93392"/>
            <a:ext cx="5230368" cy="329184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8646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37447"/>
                </a:solidFill>
                <a:latin typeface="Liberation Sans"/>
              </a:defRPr>
            </a:pPr>
            <a:r>
              <a:t>STREAM 04 • ACOUSTIC SENSING</a:t>
            </a:r>
          </a:p>
          <a:p>
            <a:pPr>
              <a:defRPr sz="1350" b="1">
                <a:solidFill>
                  <a:srgbClr val="173328"/>
                </a:solidFill>
                <a:latin typeface="Liberation Sans"/>
              </a:defRPr>
            </a:pPr>
            <a:r>
              <a:t>Smart Acoustic Cough &amp; Wheeze Sensor</a:t>
            </a:r>
          </a:p>
          <a:p>
            <a:pPr>
              <a:defRPr sz="900">
                <a:solidFill>
                  <a:srgbClr val="586B61"/>
                </a:solidFill>
                <a:latin typeface="Liberation Sans"/>
              </a:defRPr>
            </a:pPr>
            <a:r>
              <a:t>Live microphone audio analyzed via Google YamNet (AudioSet Class 47/50) &amp; Librosa DSP</a:t>
            </a:r>
          </a:p>
        </p:txBody>
      </p:sp>
      <p:pic>
        <p:nvPicPr>
          <p:cNvPr id="9" name="Picture 8" descr="acoustic_senso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4864608" cy="14295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4297680"/>
            <a:ext cx="4864608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73328"/>
                </a:solidFill>
                <a:latin typeface="Liberation Sans"/>
              </a:defRPr>
            </a:pPr>
            <a:r>
              <a:t>• 512-bin STFT Spectrum: Real-time frequency power &amp; transient energy cough burst detection</a:t>
            </a:r>
          </a:p>
          <a:p>
            <a:pPr>
              <a:defRPr sz="880">
                <a:solidFill>
                  <a:srgbClr val="173328"/>
                </a:solidFill>
                <a:latin typeface="Liberation Sans"/>
              </a:defRPr>
            </a:pPr>
            <a:r>
              <a:t>• Tracked Biomarkers: Hourly Cough Count (0 bursts), Graded Severity (0–3), Wheeze (400–1600 Hz)</a:t>
            </a:r>
          </a:p>
          <a:p>
            <a:pPr>
              <a:defRPr sz="880">
                <a:solidFill>
                  <a:srgbClr val="173328"/>
                </a:solidFill>
                <a:latin typeface="Liberation Sans"/>
              </a:defRPr>
            </a:pPr>
            <a:r>
              <a:t>• Prospective Risk Ingestion: Real-time 48h flare-up risk calculation (62.4% High Risk outlook)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993392"/>
            <a:ext cx="5230368" cy="329184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121408"/>
            <a:ext cx="48646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37447"/>
                </a:solidFill>
                <a:latin typeface="Liberation Sans"/>
              </a:defRPr>
            </a:pPr>
            <a:r>
              <a:t>STREAM 05 • FACIAL COMPUTER VISION</a:t>
            </a:r>
          </a:p>
          <a:p>
            <a:pPr>
              <a:defRPr sz="1350" b="1">
                <a:solidFill>
                  <a:srgbClr val="173328"/>
                </a:solidFill>
                <a:latin typeface="Liberation Sans"/>
              </a:defRPr>
            </a:pPr>
            <a:r>
              <a:t>Smart Webcam Facial Distress Biosensor</a:t>
            </a:r>
          </a:p>
          <a:p>
            <a:pPr>
              <a:defRPr sz="900">
                <a:solidFill>
                  <a:srgbClr val="586B61"/>
                </a:solidFill>
                <a:latin typeface="Liberation Sans"/>
              </a:defRPr>
            </a:pPr>
            <a:r>
              <a:t>Live webcam analysis tracking 468 3D landmarks via OpenCV/MediaPipe + optical rPPG</a:t>
            </a:r>
          </a:p>
        </p:txBody>
      </p:sp>
      <p:pic>
        <p:nvPicPr>
          <p:cNvPr id="13" name="Picture 12" descr="camera_senso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834640"/>
            <a:ext cx="4864608" cy="13891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9944" y="4297680"/>
            <a:ext cx="4864608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73328"/>
                </a:solidFill>
                <a:latin typeface="Liberation Sans"/>
              </a:defRPr>
            </a:pPr>
            <a:r>
              <a:t>• 468 3D Landmark Mesh: Real-time 30 FPS facial geometry with IPD stabilization lock</a:t>
            </a:r>
          </a:p>
          <a:p>
            <a:pPr>
              <a:defRPr sz="880">
                <a:solidFill>
                  <a:srgbClr val="173328"/>
                </a:solidFill>
                <a:latin typeface="Liberation Sans"/>
              </a:defRPr>
            </a:pPr>
            <a:r>
              <a:t>• Tracked Biomarkers: Oral Breathing (MAR: 0.14 vs &gt;0.35), Alar Flaring, SCM Accessory Strain</a:t>
            </a:r>
          </a:p>
          <a:p>
            <a:pPr>
              <a:defRPr sz="880">
                <a:solidFill>
                  <a:srgbClr val="173328"/>
                </a:solidFill>
                <a:latin typeface="Liberation Sans"/>
              </a:defRPr>
            </a:pPr>
            <a:r>
              <a:t>• Contactless Vitals: Forehead green-channel pulse (72 bpm) &amp; nose-motion resp rate (16.0 brpm)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728655" cy="841248"/>
          </a:xfrm>
          <a:prstGeom prst="roundRect">
            <a:avLst/>
          </a:prstGeom>
          <a:solidFill>
            <a:srgbClr val="EFF5F1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6289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37447"/>
                </a:solidFill>
                <a:latin typeface="Liberation Sans"/>
              </a:defRPr>
            </a:pPr>
            <a:r>
              <a:t>CLOSED-LOOP DIGITAL TWIN INTEGRATION</a:t>
            </a:r>
          </a:p>
          <a:p>
            <a:pPr>
              <a:defRPr sz="950">
                <a:solidFill>
                  <a:srgbClr val="173328"/>
                </a:solidFill>
                <a:latin typeface="Liberation Sans"/>
              </a:defRPr>
            </a:pPr>
            <a:r>
              <a:t>Acoustic cough bursts and facial respiratory distress telemetry stream into the 12-hour rolling wearable feature window, modulate the latent mucosal inflammation state I(t) in the Euler-Maruyama ODE, and trigger clinician outlier retraining via Elastic Weight Consolidation (EWC).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INTER-COLLEGE COLLABORATION • LNMIIT + NSUT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382512"/>
            <a:ext cx="3230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586B61"/>
                </a:solidFill>
                <a:latin typeface="Liberation Sans"/>
              </a:defRPr>
            </a:pPr>
            <a:r>
              <a:t>05B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