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B R E A T H T W I N  /  P R O J E C T  O V E R V I E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3687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05B / MULTIMODAL BIOSENSORS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37447"/>
                </a:solidFill>
                <a:latin typeface="Liberation Sans"/>
              </a:defRPr>
            </a:pPr>
            <a:r>
              <a:t>PATIENT-PORTAL BIOMARKER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173328"/>
                </a:solidFill>
                <a:latin typeface="Liberation Sans"/>
              </a:defRPr>
            </a:pPr>
            <a:r>
              <a:t>Smart acoustic audio and webcam facial distress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86B61"/>
                </a:solidFill>
                <a:latin typeface="Liberation Sans"/>
              </a:defRPr>
            </a:pPr>
            <a:r>
              <a:t>Continuous edge pipelines convert spontaneous microphone audio and camera frames into quantified clinical biomarkers and real-time digital twin adaptation.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5230368" cy="3200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48646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STREAM 04 • ACOUSTIC SENSING</a:t>
            </a:r>
          </a:p>
          <a:p>
            <a:pPr>
              <a:defRPr sz="1400" b="1">
                <a:solidFill>
                  <a:srgbClr val="173328"/>
                </a:solidFill>
                <a:latin typeface="Liberation Sans"/>
              </a:defRPr>
            </a:pPr>
            <a:r>
              <a:t>Smart Acoustic Cough &amp; Wheeze Sensor</a:t>
            </a:r>
          </a:p>
          <a:p>
            <a:pPr>
              <a:defRPr sz="950">
                <a:solidFill>
                  <a:srgbClr val="586B61"/>
                </a:solidFill>
                <a:latin typeface="Liberation Sans"/>
              </a:defRPr>
            </a:pPr>
            <a:r>
              <a:t>Live microphone audio analyzed via Google YamNet (AudioSet Class 47/50) &amp; Librosa DSP</a:t>
            </a:r>
          </a:p>
        </p:txBody>
      </p:sp>
      <p:pic>
        <p:nvPicPr>
          <p:cNvPr id="9" name="Picture 8" descr="acoustic_sens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62072"/>
            <a:ext cx="4864608" cy="14295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261104"/>
            <a:ext cx="486460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512-bin STFT Spectrum: Real-time frequency power &amp; transient cough burst detection</a:t>
            </a:r>
          </a:p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Tracked Biomarkers: Hourly Cough Count (0 bursts), Graded Severity (0–3), Wheeze (400–1600 Hz)</a:t>
            </a:r>
          </a:p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Prospective Risk Ingestion: Real-time 48h flare-up risk calculation (62.4% High Risk outlook)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993392"/>
            <a:ext cx="5230368" cy="3200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39696"/>
            <a:ext cx="48646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STREAM 05 • FACIAL COMPUTER VISION</a:t>
            </a:r>
          </a:p>
          <a:p>
            <a:pPr>
              <a:defRPr sz="1400" b="1">
                <a:solidFill>
                  <a:srgbClr val="173328"/>
                </a:solidFill>
                <a:latin typeface="Liberation Sans"/>
              </a:defRPr>
            </a:pPr>
            <a:r>
              <a:t>Smart Webcam Facial Distress Biosensor</a:t>
            </a:r>
          </a:p>
          <a:p>
            <a:pPr>
              <a:defRPr sz="950">
                <a:solidFill>
                  <a:srgbClr val="586B61"/>
                </a:solidFill>
                <a:latin typeface="Liberation Sans"/>
              </a:defRPr>
            </a:pPr>
            <a:r>
              <a:t>Live webcam analysis tracking 468 3D landmarks via OpenCV/MediaPipe + optical rPPG</a:t>
            </a:r>
          </a:p>
        </p:txBody>
      </p:sp>
      <p:pic>
        <p:nvPicPr>
          <p:cNvPr id="13" name="Picture 12" descr="camera_sensor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62072"/>
            <a:ext cx="4864608" cy="13891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9944" y="4261104"/>
            <a:ext cx="4864608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468 3D Landmark Mesh: Real-time 30 FPS facial geometry with IPD stabilization lock</a:t>
            </a:r>
          </a:p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Tracked Biomarkers: Oral Breathing (MAR: 0.14 vs &gt;0.35), Alar Flaring, SCM Accessory Strain</a:t>
            </a:r>
          </a:p>
          <a:p>
            <a:pPr>
              <a:defRPr sz="900">
                <a:solidFill>
                  <a:srgbClr val="173328"/>
                </a:solidFill>
                <a:latin typeface="Liberation Sans"/>
              </a:defRPr>
            </a:pPr>
            <a:r>
              <a:t>• Contactless Vitals: Forehead green-channel pulse (72 bpm) &amp; nose-motion resp rate (16.0 brpm)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21808"/>
            <a:ext cx="10728655" cy="877824"/>
          </a:xfrm>
          <a:prstGeom prst="roundRect">
            <a:avLst/>
          </a:prstGeom>
          <a:solidFill>
            <a:srgbClr val="EFF5F1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31536"/>
            <a:ext cx="1036289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37447"/>
                </a:solidFill>
                <a:latin typeface="Liberation Sans"/>
              </a:defRPr>
            </a:pPr>
            <a:r>
              <a:t>CLOSED-LOOP DIGITAL TWIN INTEGRATION</a:t>
            </a:r>
          </a:p>
          <a:p>
            <a:pPr>
              <a:defRPr sz="950">
                <a:solidFill>
                  <a:srgbClr val="173328"/>
                </a:solidFill>
                <a:latin typeface="Liberation Sans"/>
              </a:defRPr>
            </a:pPr>
            <a:r>
              <a:t>Acoustic cough bursts and facial respiratory distress telemetry stream into the 12-hour rolling wearable feature window, modulate the latent mucosal inflammation state I(t) in the Euler-Maruyama ODE, and trigger clinician outlier retraining via Elastic Weight Consolidation (EWC).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INTER-COLLEGE COLLABORATION • LNMIIT + NSUT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82512"/>
            <a:ext cx="3230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B R E A T H T W I N  /  P R O J E C T  O V E R V I E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3687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05C / ACOUSTIC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37447"/>
                </a:solidFill>
                <a:latin typeface="Liberation Sans"/>
              </a:defRPr>
            </a:pPr>
            <a:r>
              <a:t>BIOACOUSTIC SIGNAL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173328"/>
                </a:solidFill>
                <a:latin typeface="Liberation Sans"/>
              </a:defRPr>
            </a:pPr>
            <a:r>
              <a:t>Acoustic frequency spectrum and transient cough burst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86B61"/>
                </a:solidFill>
                <a:latin typeface="Liberation Sans"/>
              </a:defRPr>
            </a:pPr>
            <a:r>
              <a:t>Client-side Web Audio API and Google YamNet DSP extract paroxysmal cough frequency and wheeze signatures to detect early mucosal narrowing without hospital spirometry.</a:t>
            </a:r>
          </a:p>
        </p:txBody>
      </p:sp>
      <p:pic>
        <p:nvPicPr>
          <p:cNvPr id="7" name="Picture 6" descr="acoustic_sens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728655" cy="31528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INGESTION &amp; STFT DSP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Continuous Waveform Analysis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Web Audio API captures browser mic at 16 kHz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512-point Fast Fourier Transform (FFT) array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300–1400 Hz bandpass cough resonance window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Audio normalization with moving energy threshold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Interactive client-side stop/start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MACHINE LEARNING INFERENCE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YamNet Classification &amp; Wheeze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AudioSet Class 47 (Cough) &amp; Class 50 (Wheeze)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Spectral peak centroid distinguishes speech vs cough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400–1600 Hz tonal wheeze detection algorithm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Automated burst count and paroxysm duration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Grade 0/3 (Baseline) to Grade 3/3 (Severe)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PROSPECTIVE TWIN IMPACT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Early Exacerbation Warning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Injected into 12-hour rolling patient telemetry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Modulates latent mucosal inflammation state I(t)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Dynamic recalculation of 48h flare-up risk (62.4%)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Detects nocturnal worsening 24–36h in advance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Doctor alert generated in Clinical Outliers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INTER-COLLEGE COLLABORATION • LNMIIT + NSUT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382512"/>
            <a:ext cx="3230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B R E A T H T W I N  /  P R O J E C T  O V E R V I E 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365760"/>
            <a:ext cx="3687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05D / COMPUTER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37447"/>
                </a:solidFill>
                <a:latin typeface="Liberation Sans"/>
              </a:defRPr>
            </a:pPr>
            <a:r>
              <a:t>FACIAL BIOMETRICS &amp; OPTICAL DSP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87552"/>
            <a:ext cx="10728655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173328"/>
                </a:solidFill>
                <a:latin typeface="Liberation Sans"/>
              </a:defRPr>
            </a:pPr>
            <a:r>
              <a:t>Optical facial geometry, mouth breathing, and rPPG vital signs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99616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586B61"/>
                </a:solidFill>
                <a:latin typeface="Liberation Sans"/>
              </a:defRPr>
            </a:pPr>
            <a:r>
              <a:t>MediaPipe 468 3D landmark mesh and optical green-channel rPPG extract breathing pattern changes, accessory muscle recruitment, and pulse from ordinary webcam video.</a:t>
            </a:r>
          </a:p>
        </p:txBody>
      </p:sp>
      <p:pic>
        <p:nvPicPr>
          <p:cNvPr id="7" name="Picture 6" descr="camera_sens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728655" cy="30637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FACIAL LANDMARK TRACKING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468 3D Landmark Mesh &amp; MAR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Real-time 30 FPS MediaPipe FaceMesh processing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Interpupillary Distance (IPD) head pose lock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Mouth Aspect Ratio (MAR): resting 0.14 vs open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Oral breathing triggered when MAR &gt; 0.35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Interactive calibration &amp; threshold slider (5–85%)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DISTRESS BIOMARKERS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Nasal Flaring &amp; Accessory Strain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Alar width expansion index (Normal vs Dilated)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Sternocleidomastoid (SCM) neck strain detection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Rhythmic head bobbing amplitude tracking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Clinical Distress Grade: 0 (Calm) to 3 (Severe)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Built-in simulation avatar for zero-camera setups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401568" cy="224028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D2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96512"/>
            <a:ext cx="3035808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137447"/>
                </a:solidFill>
                <a:latin typeface="Liberation Sans"/>
              </a:defRPr>
            </a:pPr>
            <a:r>
              <a:t>OPTICAL VITALS EXTRACTION</a:t>
            </a:r>
          </a:p>
          <a:p>
            <a:pPr>
              <a:defRPr sz="1200" b="1">
                <a:solidFill>
                  <a:srgbClr val="173328"/>
                </a:solidFill>
                <a:latin typeface="Liberation Sans"/>
              </a:defRPr>
            </a:pPr>
            <a:r>
              <a:t>Contactless rPPG Pulse &amp; Resp Rate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Forehead green-channel reflectance tracking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Peak optical FFT extracts rPPG pulse (72 bpm)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Nose tip vertical motion FFT computes resp rate (16 brpm)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Continuous frame streaming every 2.5s to FastAPI</a:t>
            </a:r>
          </a:p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• Synced to doctor adaptation view and replay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586B61"/>
                </a:solidFill>
                <a:latin typeface="Liberation Sans"/>
              </a:defRPr>
            </a:pPr>
            <a:r>
              <a:t>INTER-COLLEGE COLLABORATION • LNMIIT + NSUT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382512"/>
            <a:ext cx="32305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586B61"/>
                </a:solidFill>
                <a:latin typeface="Liberation Sans"/>
              </a:defRPr>
            </a:pPr>
            <a:r>
              <a:t>05D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